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74" r:id="rId10"/>
    <p:sldId id="275" r:id="rId11"/>
    <p:sldId id="276" r:id="rId12"/>
    <p:sldId id="271" r:id="rId13"/>
    <p:sldId id="272" r:id="rId14"/>
    <p:sldId id="277" r:id="rId15"/>
    <p:sldId id="278" r:id="rId16"/>
    <p:sldId id="273" r:id="rId17"/>
    <p:sldId id="280" r:id="rId18"/>
    <p:sldId id="279" r:id="rId19"/>
    <p:sldId id="263" r:id="rId20"/>
    <p:sldId id="264" r:id="rId21"/>
    <p:sldId id="265" r:id="rId22"/>
    <p:sldId id="266" r:id="rId23"/>
    <p:sldId id="267" r:id="rId24"/>
    <p:sldId id="268" r:id="rId25"/>
    <p:sldId id="281" r:id="rId26"/>
    <p:sldId id="282" r:id="rId27"/>
    <p:sldId id="284" r:id="rId28"/>
    <p:sldId id="285" r:id="rId29"/>
    <p:sldId id="283" r:id="rId30"/>
    <p:sldId id="269" r:id="rId3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714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1459" y="693737"/>
            <a:ext cx="7762240" cy="960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72564" y="2296223"/>
            <a:ext cx="5504180" cy="2314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24250" y="0"/>
              <a:ext cx="8667750" cy="68579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5410200" cy="68580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18135">
              <a:lnSpc>
                <a:spcPct val="100000"/>
              </a:lnSpc>
              <a:spcBef>
                <a:spcPts val="105"/>
              </a:spcBef>
            </a:pPr>
            <a:r>
              <a:rPr sz="4800" dirty="0"/>
              <a:t>Padrões</a:t>
            </a:r>
            <a:r>
              <a:rPr sz="4800" spc="-220" dirty="0"/>
              <a:t> </a:t>
            </a:r>
            <a:r>
              <a:rPr sz="4800" dirty="0"/>
              <a:t>de</a:t>
            </a:r>
            <a:r>
              <a:rPr sz="4800" spc="-215" dirty="0"/>
              <a:t> </a:t>
            </a:r>
            <a:r>
              <a:rPr sz="4800" spc="-95" dirty="0"/>
              <a:t>projeto</a:t>
            </a:r>
            <a:endParaRPr sz="4800"/>
          </a:p>
        </p:txBody>
      </p:sp>
      <p:sp>
        <p:nvSpPr>
          <p:cNvPr id="6" name="object 6"/>
          <p:cNvSpPr txBox="1"/>
          <p:nvPr/>
        </p:nvSpPr>
        <p:spPr>
          <a:xfrm>
            <a:off x="557212" y="1687830"/>
            <a:ext cx="458533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Memento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114" dirty="0">
                <a:solidFill>
                  <a:srgbClr val="FFFFFF"/>
                </a:solidFill>
                <a:latin typeface="Calibri"/>
                <a:cs typeface="Calibri"/>
              </a:rPr>
              <a:t>Chain</a:t>
            </a:r>
            <a:r>
              <a:rPr sz="240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45" dirty="0">
                <a:solidFill>
                  <a:srgbClr val="FFFFFF"/>
                </a:solidFill>
                <a:latin typeface="Calibri"/>
                <a:cs typeface="Calibri"/>
              </a:rPr>
              <a:t>responsability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85775" y="628650"/>
            <a:ext cx="3971925" cy="3933825"/>
            <a:chOff x="485775" y="628650"/>
            <a:chExt cx="3971925" cy="3933825"/>
          </a:xfrm>
        </p:grpSpPr>
        <p:sp>
          <p:nvSpPr>
            <p:cNvPr id="8" name="object 8"/>
            <p:cNvSpPr/>
            <p:nvPr/>
          </p:nvSpPr>
          <p:spPr>
            <a:xfrm>
              <a:off x="485775" y="628650"/>
              <a:ext cx="695325" cy="142875"/>
            </a:xfrm>
            <a:custGeom>
              <a:avLst/>
              <a:gdLst/>
              <a:ahLst/>
              <a:cxnLst/>
              <a:rect l="l" t="t" r="r" b="b"/>
              <a:pathLst>
                <a:path w="695325" h="142875">
                  <a:moveTo>
                    <a:pt x="695325" y="0"/>
                  </a:moveTo>
                  <a:lnTo>
                    <a:pt x="0" y="0"/>
                  </a:lnTo>
                  <a:lnTo>
                    <a:pt x="0" y="142875"/>
                  </a:lnTo>
                  <a:lnTo>
                    <a:pt x="695325" y="142875"/>
                  </a:lnTo>
                  <a:lnTo>
                    <a:pt x="695325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5775" y="4543425"/>
              <a:ext cx="3971925" cy="19050"/>
            </a:xfrm>
            <a:custGeom>
              <a:avLst/>
              <a:gdLst/>
              <a:ahLst/>
              <a:cxnLst/>
              <a:rect l="l" t="t" r="r" b="b"/>
              <a:pathLst>
                <a:path w="3971925" h="19050">
                  <a:moveTo>
                    <a:pt x="3971925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971925" y="19050"/>
                  </a:lnTo>
                  <a:lnTo>
                    <a:pt x="3971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61340" y="3452177"/>
            <a:ext cx="4239260" cy="128560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Alunos:</a:t>
            </a:r>
            <a:r>
              <a:rPr sz="20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pt-BR" sz="2000" spc="-85" dirty="0">
                <a:solidFill>
                  <a:srgbClr val="FFFFFF"/>
                </a:solidFill>
                <a:latin typeface="Arial"/>
                <a:cs typeface="Arial"/>
              </a:rPr>
              <a:t>Bruno Santos,</a:t>
            </a:r>
          </a:p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lang="pt-BR" sz="2000" spc="-85" dirty="0">
                <a:solidFill>
                  <a:srgbClr val="FFFFFF"/>
                </a:solidFill>
                <a:latin typeface="Arial"/>
                <a:cs typeface="Arial"/>
              </a:rPr>
              <a:t>	Levi Barreto Araújo,</a:t>
            </a:r>
          </a:p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lang="pt-BR" sz="2000" spc="-85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Matheus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Calasãs,</a:t>
            </a:r>
            <a:r>
              <a:rPr sz="20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lang="pt-BR" sz="2000" spc="-85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lang="pt-BR" sz="2000" spc="-85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Tiago </a:t>
            </a:r>
            <a:r>
              <a:rPr lang="pt-BR" sz="2000" spc="-20" dirty="0">
                <a:solidFill>
                  <a:srgbClr val="FFFFFF"/>
                </a:solidFill>
                <a:latin typeface="Arial"/>
                <a:cs typeface="Arial"/>
              </a:rPr>
              <a:t>Germano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Carvalho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5589" rIns="0" bIns="0" rtlCol="0">
            <a:spAutoFit/>
          </a:bodyPr>
          <a:lstStyle/>
          <a:p>
            <a:pPr marL="339725">
              <a:lnSpc>
                <a:spcPct val="100000"/>
              </a:lnSpc>
              <a:spcBef>
                <a:spcPts val="130"/>
              </a:spcBef>
            </a:pPr>
            <a:r>
              <a:rPr sz="4400" spc="-100" dirty="0"/>
              <a:t>Memento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28587" y="1905000"/>
            <a:ext cx="5220970" cy="0"/>
          </a:xfrm>
          <a:custGeom>
            <a:avLst/>
            <a:gdLst/>
            <a:ahLst/>
            <a:cxnLst/>
            <a:rect l="l" t="t" r="r" b="b"/>
            <a:pathLst>
              <a:path w="5220970">
                <a:moveTo>
                  <a:pt x="522090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72564" y="2359024"/>
            <a:ext cx="9262110" cy="1834514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240029" marR="5080" indent="-227965" algn="just">
              <a:lnSpc>
                <a:spcPts val="3460"/>
              </a:lnSpc>
              <a:spcBef>
                <a:spcPts val="560"/>
              </a:spcBef>
              <a:buFont typeface="Arial"/>
              <a:buChar char="•"/>
              <a:tabLst>
                <a:tab pos="241300" algn="l"/>
              </a:tabLst>
            </a:pPr>
            <a:r>
              <a:rPr sz="3200" spc="229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spc="730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Memento</a:t>
            </a:r>
            <a:r>
              <a:rPr sz="3200" spc="740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3200" spc="110" dirty="0">
                <a:solidFill>
                  <a:srgbClr val="FFFFFF"/>
                </a:solidFill>
                <a:latin typeface="Calibri"/>
                <a:cs typeface="Calibri"/>
              </a:rPr>
              <a:t>é</a:t>
            </a:r>
            <a:r>
              <a:rPr sz="3200" spc="730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3200" spc="140" dirty="0">
                <a:solidFill>
                  <a:srgbClr val="FFFFFF"/>
                </a:solidFill>
                <a:latin typeface="Calibri"/>
                <a:cs typeface="Calibri"/>
              </a:rPr>
              <a:t>um</a:t>
            </a:r>
            <a:r>
              <a:rPr sz="3200" spc="730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3200" spc="65" dirty="0">
                <a:solidFill>
                  <a:srgbClr val="FFFFFF"/>
                </a:solidFill>
                <a:latin typeface="Calibri"/>
                <a:cs typeface="Calibri"/>
              </a:rPr>
              <a:t>padrão</a:t>
            </a:r>
            <a:r>
              <a:rPr sz="3200" spc="740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3200" spc="105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3200" spc="735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projeto 	</a:t>
            </a:r>
            <a:r>
              <a:rPr sz="3200" spc="85" dirty="0">
                <a:solidFill>
                  <a:srgbClr val="FFFFFF"/>
                </a:solidFill>
                <a:latin typeface="Calibri"/>
                <a:cs typeface="Calibri"/>
              </a:rPr>
              <a:t>comportamental,</a:t>
            </a:r>
            <a:r>
              <a:rPr sz="3200" spc="13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spc="110" dirty="0">
                <a:solidFill>
                  <a:srgbClr val="FFFFFF"/>
                </a:solidFill>
                <a:latin typeface="Calibri"/>
                <a:cs typeface="Calibri"/>
              </a:rPr>
              <a:t>que</a:t>
            </a:r>
            <a:r>
              <a:rPr sz="3200" spc="9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spc="50" dirty="0">
                <a:solidFill>
                  <a:srgbClr val="FFFFFF"/>
                </a:solidFill>
                <a:latin typeface="Calibri"/>
                <a:cs typeface="Calibri"/>
              </a:rPr>
              <a:t>permite</a:t>
            </a:r>
            <a:r>
              <a:rPr sz="3200" spc="110" dirty="0">
                <a:solidFill>
                  <a:srgbClr val="FFFFFF"/>
                </a:solidFill>
                <a:latin typeface="Calibri"/>
                <a:cs typeface="Calibri"/>
              </a:rPr>
              <a:t>  que</a:t>
            </a:r>
            <a:r>
              <a:rPr sz="3200" spc="9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spc="110" dirty="0">
                <a:solidFill>
                  <a:srgbClr val="FFFFFF"/>
                </a:solidFill>
                <a:latin typeface="Calibri"/>
                <a:cs typeface="Calibri"/>
              </a:rPr>
              <a:t>você</a:t>
            </a:r>
            <a:r>
              <a:rPr sz="3200" spc="10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spc="110" dirty="0">
                <a:solidFill>
                  <a:srgbClr val="FFFFFF"/>
                </a:solidFill>
                <a:latin typeface="Calibri"/>
                <a:cs typeface="Calibri"/>
              </a:rPr>
              <a:t>salve</a:t>
            </a:r>
            <a:r>
              <a:rPr sz="3200" spc="12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spc="60" dirty="0">
                <a:solidFill>
                  <a:srgbClr val="FFFFFF"/>
                </a:solidFill>
                <a:latin typeface="Calibri"/>
                <a:cs typeface="Calibri"/>
              </a:rPr>
              <a:t>e 	restaure</a:t>
            </a:r>
            <a:r>
              <a:rPr sz="3200" spc="34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spc="8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spc="34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spc="100" dirty="0">
                <a:solidFill>
                  <a:srgbClr val="FFFFFF"/>
                </a:solidFill>
                <a:latin typeface="Calibri"/>
                <a:cs typeface="Calibri"/>
              </a:rPr>
              <a:t>estado</a:t>
            </a:r>
            <a:r>
              <a:rPr sz="3200" spc="35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anterior</a:t>
            </a:r>
            <a:r>
              <a:rPr sz="3200" spc="37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spc="105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3200" spc="35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spc="140" dirty="0">
                <a:solidFill>
                  <a:srgbClr val="FFFFFF"/>
                </a:solidFill>
                <a:latin typeface="Calibri"/>
                <a:cs typeface="Calibri"/>
              </a:rPr>
              <a:t>um</a:t>
            </a:r>
            <a:r>
              <a:rPr sz="3200" spc="33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objeto</a:t>
            </a:r>
            <a:r>
              <a:rPr sz="3200" spc="34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spc="160" dirty="0">
                <a:solidFill>
                  <a:srgbClr val="FFFFFF"/>
                </a:solidFill>
                <a:latin typeface="Calibri"/>
                <a:cs typeface="Calibri"/>
              </a:rPr>
              <a:t>sem 	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revelar</a:t>
            </a:r>
            <a:r>
              <a:rPr sz="32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215" dirty="0">
                <a:solidFill>
                  <a:srgbClr val="FFFFFF"/>
                </a:solidFill>
                <a:latin typeface="Calibri"/>
                <a:cs typeface="Calibri"/>
              </a:rPr>
              <a:t>os</a:t>
            </a:r>
            <a:r>
              <a:rPr sz="32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105" dirty="0">
                <a:solidFill>
                  <a:srgbClr val="FFFFFF"/>
                </a:solidFill>
                <a:latin typeface="Calibri"/>
                <a:cs typeface="Calibri"/>
              </a:rPr>
              <a:t>detalhes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105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190" dirty="0">
                <a:solidFill>
                  <a:srgbClr val="FFFFFF"/>
                </a:solidFill>
                <a:latin typeface="Calibri"/>
                <a:cs typeface="Calibri"/>
              </a:rPr>
              <a:t>sua</a:t>
            </a:r>
            <a:r>
              <a:rPr sz="32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90" dirty="0">
                <a:solidFill>
                  <a:srgbClr val="FFFFFF"/>
                </a:solidFill>
                <a:latin typeface="Calibri"/>
                <a:cs typeface="Calibri"/>
              </a:rPr>
              <a:t>implementação.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07010">
              <a:lnSpc>
                <a:spcPct val="100000"/>
              </a:lnSpc>
              <a:spcBef>
                <a:spcPts val="130"/>
              </a:spcBef>
            </a:pPr>
            <a:r>
              <a:rPr sz="4400" spc="-125" dirty="0"/>
              <a:t>Memento</a:t>
            </a:r>
            <a:r>
              <a:rPr sz="4400" spc="-145" dirty="0"/>
              <a:t> </a:t>
            </a:r>
            <a:r>
              <a:rPr sz="4400" spc="185" dirty="0"/>
              <a:t>-</a:t>
            </a:r>
            <a:r>
              <a:rPr sz="4400" spc="-140" dirty="0"/>
              <a:t> </a:t>
            </a:r>
            <a:r>
              <a:rPr sz="4400" spc="-30" dirty="0"/>
              <a:t>Ideia</a:t>
            </a:r>
            <a:r>
              <a:rPr sz="4400" spc="-175" dirty="0"/>
              <a:t> </a:t>
            </a:r>
            <a:r>
              <a:rPr sz="4400" spc="-10" dirty="0"/>
              <a:t>central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28587" y="1752600"/>
            <a:ext cx="5220970" cy="0"/>
          </a:xfrm>
          <a:custGeom>
            <a:avLst/>
            <a:gdLst/>
            <a:ahLst/>
            <a:cxnLst/>
            <a:rect l="l" t="t" r="r" b="b"/>
            <a:pathLst>
              <a:path w="5220970">
                <a:moveTo>
                  <a:pt x="522090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72564" y="2359024"/>
            <a:ext cx="8235950" cy="3690754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60"/>
              </a:spcBef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Editor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(Originator)</a:t>
            </a:r>
            <a:r>
              <a:rPr sz="3200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114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75" dirty="0">
                <a:solidFill>
                  <a:srgbClr val="FFFFFF"/>
                </a:solidFill>
                <a:latin typeface="Calibri"/>
                <a:cs typeface="Calibri"/>
              </a:rPr>
              <a:t>Objeto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110" dirty="0">
                <a:solidFill>
                  <a:srgbClr val="FFFFFF"/>
                </a:solidFill>
                <a:latin typeface="Calibri"/>
                <a:cs typeface="Calibri"/>
              </a:rPr>
              <a:t>que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105" dirty="0" err="1">
                <a:solidFill>
                  <a:srgbClr val="FFFFFF"/>
                </a:solidFill>
                <a:latin typeface="Calibri"/>
                <a:cs typeface="Calibri"/>
              </a:rPr>
              <a:t>receb</a:t>
            </a:r>
            <a:r>
              <a:rPr lang="pt-BR" sz="3200" spc="105" dirty="0">
                <a:solidFill>
                  <a:srgbClr val="FFFFFF"/>
                </a:solidFill>
                <a:latin typeface="Calibri"/>
                <a:cs typeface="Calibri"/>
              </a:rPr>
              <a:t>e o</a:t>
            </a:r>
            <a:r>
              <a:rPr sz="32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80" dirty="0">
                <a:solidFill>
                  <a:srgbClr val="FFFFFF"/>
                </a:solidFill>
                <a:latin typeface="Calibri"/>
                <a:cs typeface="Calibri"/>
              </a:rPr>
              <a:t>estado.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3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Memento</a:t>
            </a:r>
            <a:r>
              <a:rPr sz="3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3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3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75" dirty="0">
                <a:solidFill>
                  <a:srgbClr val="FFFFFF"/>
                </a:solidFill>
                <a:latin typeface="Calibri"/>
                <a:cs typeface="Calibri"/>
              </a:rPr>
              <a:t>Objeto</a:t>
            </a:r>
            <a:r>
              <a:rPr sz="3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100" dirty="0">
                <a:solidFill>
                  <a:srgbClr val="FFFFFF"/>
                </a:solidFill>
                <a:latin typeface="Calibri"/>
                <a:cs typeface="Calibri"/>
              </a:rPr>
              <a:t>que</a:t>
            </a:r>
            <a:r>
              <a:rPr sz="3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80" dirty="0">
                <a:solidFill>
                  <a:srgbClr val="FFFFFF"/>
                </a:solidFill>
                <a:latin typeface="Calibri"/>
                <a:cs typeface="Calibri"/>
              </a:rPr>
              <a:t>guarda</a:t>
            </a:r>
            <a:r>
              <a:rPr sz="3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8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80" dirty="0">
                <a:solidFill>
                  <a:srgbClr val="FFFFFF"/>
                </a:solidFill>
                <a:latin typeface="Calibri"/>
                <a:cs typeface="Calibri"/>
              </a:rPr>
              <a:t>estado.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20"/>
              </a:spcBef>
            </a:pPr>
            <a:endParaRPr sz="3200" dirty="0">
              <a:latin typeface="Calibri"/>
              <a:cs typeface="Calibri"/>
            </a:endParaRPr>
          </a:p>
          <a:p>
            <a:pPr marL="12700" marR="16510">
              <a:lnSpc>
                <a:spcPts val="3460"/>
              </a:lnSpc>
              <a:spcBef>
                <a:spcPts val="5"/>
              </a:spcBef>
            </a:pPr>
            <a:r>
              <a:rPr sz="3200" spc="90" dirty="0">
                <a:solidFill>
                  <a:srgbClr val="FFFFFF"/>
                </a:solidFill>
                <a:latin typeface="Calibri"/>
                <a:cs typeface="Calibri"/>
              </a:rPr>
              <a:t>Caretaker</a:t>
            </a:r>
            <a:r>
              <a:rPr sz="3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35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3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75" dirty="0">
                <a:solidFill>
                  <a:srgbClr val="FFFFFF"/>
                </a:solidFill>
                <a:latin typeface="Calibri"/>
                <a:cs typeface="Calibri"/>
              </a:rPr>
              <a:t>Objeto</a:t>
            </a:r>
            <a:r>
              <a:rPr sz="32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100" dirty="0">
                <a:solidFill>
                  <a:srgbClr val="FFFFFF"/>
                </a:solidFill>
                <a:latin typeface="Calibri"/>
                <a:cs typeface="Calibri"/>
              </a:rPr>
              <a:t>que</a:t>
            </a:r>
            <a:r>
              <a:rPr sz="32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95" dirty="0">
                <a:solidFill>
                  <a:srgbClr val="FFFFFF"/>
                </a:solidFill>
                <a:latin typeface="Calibri"/>
                <a:cs typeface="Calibri"/>
              </a:rPr>
              <a:t>armazena</a:t>
            </a:r>
            <a:r>
              <a:rPr sz="3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1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60" dirty="0">
                <a:solidFill>
                  <a:srgbClr val="FFFFFF"/>
                </a:solidFill>
                <a:latin typeface="Calibri"/>
                <a:cs typeface="Calibri"/>
              </a:rPr>
              <a:t>restaura</a:t>
            </a:r>
            <a:r>
              <a:rPr sz="32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195" dirty="0">
                <a:solidFill>
                  <a:srgbClr val="FFFFFF"/>
                </a:solidFill>
                <a:latin typeface="Calibri"/>
                <a:cs typeface="Calibri"/>
              </a:rPr>
              <a:t>os </a:t>
            </a:r>
            <a:r>
              <a:rPr sz="3200" spc="110" dirty="0">
                <a:solidFill>
                  <a:srgbClr val="FFFFFF"/>
                </a:solidFill>
                <a:latin typeface="Calibri"/>
                <a:cs typeface="Calibri"/>
              </a:rPr>
              <a:t>estados.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130"/>
              </a:spcBef>
            </a:pPr>
            <a:r>
              <a:rPr sz="4400" spc="-125" dirty="0"/>
              <a:t>Memento</a:t>
            </a:r>
            <a:r>
              <a:rPr sz="4400" spc="-140" dirty="0"/>
              <a:t> </a:t>
            </a:r>
            <a:r>
              <a:rPr sz="4400" spc="185" dirty="0"/>
              <a:t>-</a:t>
            </a:r>
            <a:r>
              <a:rPr sz="4400" spc="-114" dirty="0"/>
              <a:t> </a:t>
            </a:r>
            <a:r>
              <a:rPr sz="4400" spc="-25" dirty="0"/>
              <a:t>Vantagens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28587" y="1752600"/>
            <a:ext cx="5220970" cy="0"/>
          </a:xfrm>
          <a:custGeom>
            <a:avLst/>
            <a:gdLst/>
            <a:ahLst/>
            <a:cxnLst/>
            <a:rect l="l" t="t" r="r" b="b"/>
            <a:pathLst>
              <a:path w="5220970">
                <a:moveTo>
                  <a:pt x="522090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58341" y="2118423"/>
            <a:ext cx="6427470" cy="444182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50"/>
              </a:spcBef>
              <a:buFont typeface="Arial"/>
              <a:buChar char="•"/>
              <a:tabLst>
                <a:tab pos="24066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Preserva</a:t>
            </a:r>
            <a:r>
              <a:rPr sz="20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encapsulamento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estado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interno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não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é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exposto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diretamente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5"/>
              </a:spcBef>
            </a:pPr>
            <a:endParaRPr sz="2000" dirty="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Facilita</a:t>
            </a:r>
            <a:r>
              <a:rPr sz="20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rollback</a:t>
            </a:r>
            <a:r>
              <a:rPr sz="2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(desfazer)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Muito</a:t>
            </a:r>
            <a:r>
              <a:rPr sz="2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usado</a:t>
            </a:r>
            <a:r>
              <a:rPr sz="2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em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sistemas</a:t>
            </a:r>
            <a:r>
              <a:rPr sz="20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com</a:t>
            </a:r>
            <a:r>
              <a:rPr sz="20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“undo/redo”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80"/>
              </a:spcBef>
            </a:pPr>
            <a:endParaRPr sz="2000" dirty="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Separação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responsabilidades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Quem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salva/restaura não</a:t>
            </a: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manipula</a:t>
            </a: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estado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diretamente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10"/>
              </a:spcBef>
            </a:pPr>
            <a:endParaRPr sz="2000" dirty="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Histórico</a:t>
            </a:r>
            <a:r>
              <a:rPr sz="2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estados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Permite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manter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versões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anteriores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do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objeto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130"/>
              </a:spcBef>
            </a:pPr>
            <a:r>
              <a:rPr sz="4400" spc="-125" dirty="0"/>
              <a:t>Memento</a:t>
            </a:r>
            <a:r>
              <a:rPr sz="4400" spc="-130" dirty="0"/>
              <a:t> </a:t>
            </a:r>
            <a:r>
              <a:rPr sz="4400" spc="185" dirty="0"/>
              <a:t>-</a:t>
            </a:r>
            <a:r>
              <a:rPr sz="4400" spc="-114" dirty="0"/>
              <a:t> </a:t>
            </a:r>
            <a:r>
              <a:rPr sz="4400" spc="-10" dirty="0"/>
              <a:t>Desvantagens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28587" y="1828800"/>
            <a:ext cx="5220970" cy="0"/>
          </a:xfrm>
          <a:custGeom>
            <a:avLst/>
            <a:gdLst/>
            <a:ahLst/>
            <a:cxnLst/>
            <a:rect l="l" t="t" r="r" b="b"/>
            <a:pathLst>
              <a:path w="5220970">
                <a:moveTo>
                  <a:pt x="522090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56664" y="2118423"/>
            <a:ext cx="6061075" cy="444182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50"/>
              </a:spcBef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Alto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consumo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memória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Muitos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snapshots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podem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ocupar</a:t>
            </a: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espaço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5"/>
              </a:spcBef>
            </a:pP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Gerenciamento</a:t>
            </a:r>
            <a:r>
              <a:rPr sz="20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complexo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Controlar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vários</a:t>
            </a: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estados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pode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ser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difícil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80"/>
              </a:spcBef>
            </a:pP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Custo</a:t>
            </a:r>
            <a:r>
              <a:rPr sz="2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Criar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cópias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frequentes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pode</a:t>
            </a:r>
            <a:r>
              <a:rPr sz="2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impactar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10"/>
              </a:spcBef>
            </a:pP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Exposição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indireta</a:t>
            </a:r>
            <a:r>
              <a:rPr sz="20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estado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Dependendo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implementação,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pode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vazar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detalhes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4400" spc="-114" dirty="0"/>
              <a:t>Memento</a:t>
            </a:r>
            <a:r>
              <a:rPr sz="4400" spc="-170" dirty="0"/>
              <a:t> </a:t>
            </a:r>
            <a:r>
              <a:rPr sz="4400" spc="185" dirty="0"/>
              <a:t>-</a:t>
            </a:r>
            <a:r>
              <a:rPr sz="4400" spc="-210" dirty="0"/>
              <a:t> </a:t>
            </a:r>
            <a:r>
              <a:rPr sz="4400" spc="-20" dirty="0"/>
              <a:t>Quando</a:t>
            </a:r>
            <a:r>
              <a:rPr sz="4400" spc="-150" dirty="0"/>
              <a:t> </a:t>
            </a:r>
            <a:r>
              <a:rPr sz="4400" spc="-10" dirty="0"/>
              <a:t>usar?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28587" y="1653856"/>
            <a:ext cx="5220970" cy="0"/>
          </a:xfrm>
          <a:custGeom>
            <a:avLst/>
            <a:gdLst/>
            <a:ahLst/>
            <a:cxnLst/>
            <a:rect l="l" t="t" r="r" b="b"/>
            <a:pathLst>
              <a:path w="5220970">
                <a:moveTo>
                  <a:pt x="522090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72564" y="2003361"/>
            <a:ext cx="6122670" cy="444182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Memento</a:t>
            </a:r>
            <a:r>
              <a:rPr sz="20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quando: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Você</a:t>
            </a:r>
            <a:r>
              <a:rPr sz="20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precisa</a:t>
            </a:r>
            <a:r>
              <a:rPr sz="20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implementar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undo/redo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Precisa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salvar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estados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recuperação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futura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Quer</a:t>
            </a:r>
            <a:r>
              <a:rPr sz="20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manter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histórico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sem</a:t>
            </a:r>
            <a:r>
              <a:rPr sz="20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quebrar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encapsulamento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objeto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possui</a:t>
            </a:r>
            <a:r>
              <a:rPr sz="20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estado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complexo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85"/>
              </a:spcBef>
              <a:buClr>
                <a:srgbClr val="FFFFFF"/>
              </a:buClr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Exemplos</a:t>
            </a:r>
            <a:r>
              <a:rPr sz="20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típicos: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Editor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texto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(Ctrl</a:t>
            </a:r>
            <a:r>
              <a:rPr sz="20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Z)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Jogos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(salvar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progresso)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Sistemas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versionamento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Transações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com</a:t>
            </a:r>
            <a:r>
              <a:rPr sz="20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rollback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4400" spc="-114" dirty="0"/>
              <a:t>Memento</a:t>
            </a:r>
            <a:r>
              <a:rPr sz="4400" spc="-170" dirty="0"/>
              <a:t> </a:t>
            </a:r>
            <a:r>
              <a:rPr sz="4400" spc="185" dirty="0"/>
              <a:t>-</a:t>
            </a:r>
            <a:r>
              <a:rPr sz="4400" spc="-200" dirty="0"/>
              <a:t> </a:t>
            </a:r>
            <a:r>
              <a:rPr sz="4400" spc="-20" dirty="0"/>
              <a:t>Quando</a:t>
            </a:r>
            <a:r>
              <a:rPr sz="4400" spc="-145" dirty="0"/>
              <a:t> </a:t>
            </a:r>
            <a:r>
              <a:rPr sz="4400" spc="-60" dirty="0"/>
              <a:t>não</a:t>
            </a:r>
            <a:r>
              <a:rPr sz="4400" spc="-190" dirty="0"/>
              <a:t> </a:t>
            </a:r>
            <a:r>
              <a:rPr sz="4400" spc="40" dirty="0"/>
              <a:t>usar?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28587" y="1752600"/>
            <a:ext cx="5220970" cy="0"/>
          </a:xfrm>
          <a:custGeom>
            <a:avLst/>
            <a:gdLst/>
            <a:ahLst/>
            <a:cxnLst/>
            <a:rect l="l" t="t" r="r" b="b"/>
            <a:pathLst>
              <a:path w="5220970">
                <a:moveTo>
                  <a:pt x="522090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95400" y="2985534"/>
            <a:ext cx="5172075" cy="231457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Evite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quando:</a:t>
            </a:r>
            <a:endParaRPr sz="2400" dirty="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objeto</a:t>
            </a:r>
            <a:r>
              <a:rPr sz="24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tem</a:t>
            </a:r>
            <a:r>
              <a:rPr sz="2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estado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simples</a:t>
            </a:r>
            <a:endParaRPr sz="2400" dirty="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Não</a:t>
            </a:r>
            <a:r>
              <a:rPr sz="24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há</a:t>
            </a:r>
            <a:r>
              <a:rPr sz="2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necessidade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histórico</a:t>
            </a:r>
            <a:endParaRPr sz="2400" dirty="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custo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memória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é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crítico</a:t>
            </a:r>
            <a:endParaRPr sz="2400" dirty="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Snapshot</a:t>
            </a:r>
            <a:r>
              <a:rPr sz="2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completo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é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desnecessário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324C8-5DAD-4977-BE78-4E0DE920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59" y="362557"/>
            <a:ext cx="11940541" cy="515526"/>
          </a:xfrm>
        </p:spPr>
        <p:txBody>
          <a:bodyPr/>
          <a:lstStyle/>
          <a:p>
            <a:pPr algn="l"/>
            <a:r>
              <a:rPr lang="pt-BR" dirty="0"/>
              <a:t>Código do Projeto Memento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D3C0C2D-104E-4039-A0FD-2153FE209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1007327"/>
            <a:ext cx="5562600" cy="5648737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E93A261C-BB89-471A-8756-D16AF0ACAC9A}"/>
              </a:ext>
            </a:extLst>
          </p:cNvPr>
          <p:cNvSpPr/>
          <p:nvPr/>
        </p:nvSpPr>
        <p:spPr>
          <a:xfrm>
            <a:off x="76200" y="914400"/>
            <a:ext cx="5220970" cy="0"/>
          </a:xfrm>
          <a:custGeom>
            <a:avLst/>
            <a:gdLst/>
            <a:ahLst/>
            <a:cxnLst/>
            <a:rect l="l" t="t" r="r" b="b"/>
            <a:pathLst>
              <a:path w="5220970">
                <a:moveTo>
                  <a:pt x="522090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E2CF262-5A6E-4E28-A275-105FD54B29DB}"/>
              </a:ext>
            </a:extLst>
          </p:cNvPr>
          <p:cNvSpPr/>
          <p:nvPr/>
        </p:nvSpPr>
        <p:spPr>
          <a:xfrm>
            <a:off x="76200" y="114300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9521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5D918B3-A08C-42D5-9E47-E775544F2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371600"/>
            <a:ext cx="7517719" cy="4343400"/>
          </a:xfrm>
          <a:prstGeom prst="rect">
            <a:avLst/>
          </a:prstGeom>
        </p:spPr>
      </p:pic>
      <p:sp>
        <p:nvSpPr>
          <p:cNvPr id="7" name="object 5">
            <a:extLst>
              <a:ext uri="{FF2B5EF4-FFF2-40B4-BE49-F238E27FC236}">
                <a16:creationId xmlns:a16="http://schemas.microsoft.com/office/drawing/2014/main" id="{AEA95F56-E696-4633-A594-B71A5C07C799}"/>
              </a:ext>
            </a:extLst>
          </p:cNvPr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3881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CC1039A-42FB-4C88-BFB3-828DD1B86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647700"/>
            <a:ext cx="9726223" cy="556260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A582FD43-06E2-493D-AD3F-5B64BDFBA153}"/>
              </a:ext>
            </a:extLst>
          </p:cNvPr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1665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022169F-71F1-4561-895C-84FF2E600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05" y="1219200"/>
            <a:ext cx="11161990" cy="388620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D9091902-725A-436F-B6E2-522542A24C50}"/>
              </a:ext>
            </a:extLst>
          </p:cNvPr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2619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1593D688-C6AA-4488-88DA-780DAC806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99021"/>
            <a:ext cx="8229600" cy="6259958"/>
          </a:xfrm>
          <a:prstGeom prst="rect">
            <a:avLst/>
          </a:prstGeom>
        </p:spPr>
      </p:pic>
      <p:sp>
        <p:nvSpPr>
          <p:cNvPr id="4" name="object 5">
            <a:extLst>
              <a:ext uri="{FF2B5EF4-FFF2-40B4-BE49-F238E27FC236}">
                <a16:creationId xmlns:a16="http://schemas.microsoft.com/office/drawing/2014/main" id="{2973745D-A240-4458-AF06-5AC2D0F246C4}"/>
              </a:ext>
            </a:extLst>
          </p:cNvPr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4372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0EAB92C-3AED-4453-80A0-D65AA96BB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123950"/>
            <a:ext cx="8836992" cy="4610100"/>
          </a:xfrm>
          <a:prstGeom prst="rect">
            <a:avLst/>
          </a:prstGeom>
        </p:spPr>
      </p:pic>
      <p:sp>
        <p:nvSpPr>
          <p:cNvPr id="4" name="object 5">
            <a:extLst>
              <a:ext uri="{FF2B5EF4-FFF2-40B4-BE49-F238E27FC236}">
                <a16:creationId xmlns:a16="http://schemas.microsoft.com/office/drawing/2014/main" id="{BDCF647C-63A6-4351-B7F3-6CABBEA9B16A}"/>
              </a:ext>
            </a:extLst>
          </p:cNvPr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2351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D4EC0C0-E566-4760-8C4D-398B9D9E4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599491"/>
            <a:ext cx="8305800" cy="5659018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ECB5D4CD-D268-4BA2-A5C7-1A06517504B1}"/>
              </a:ext>
            </a:extLst>
          </p:cNvPr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5832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742859A-0AD9-41B2-A698-BEFF04C81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548" y="1828800"/>
            <a:ext cx="9434903" cy="213360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3D614FC1-EE71-43C6-84D2-F2CFF2342107}"/>
              </a:ext>
            </a:extLst>
          </p:cNvPr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337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65C320-28A7-4DF0-9CF1-38840224D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58" y="693737"/>
            <a:ext cx="11940541" cy="515526"/>
          </a:xfrm>
        </p:spPr>
        <p:txBody>
          <a:bodyPr/>
          <a:lstStyle/>
          <a:p>
            <a:pPr algn="l"/>
            <a:r>
              <a:rPr lang="pt-BR" dirty="0"/>
              <a:t>Projeto Rodando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E59259AB-8A89-408A-A488-FBDEBA67E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062" y="1557609"/>
            <a:ext cx="3047332" cy="1871391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63ACEAFA-FB33-4C9A-86DE-913922243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5394" y="4081738"/>
            <a:ext cx="3934374" cy="1810003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10D15C64-0B74-4F06-BBF1-E45D7553C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96001"/>
            <a:ext cx="2705478" cy="1895740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11244707-158F-4C17-A04B-AE2D03217544}"/>
              </a:ext>
            </a:extLst>
          </p:cNvPr>
          <p:cNvSpPr/>
          <p:nvPr/>
        </p:nvSpPr>
        <p:spPr>
          <a:xfrm>
            <a:off x="128587" y="1371600"/>
            <a:ext cx="5220970" cy="0"/>
          </a:xfrm>
          <a:custGeom>
            <a:avLst/>
            <a:gdLst/>
            <a:ahLst/>
            <a:cxnLst/>
            <a:rect l="l" t="t" r="r" b="b"/>
            <a:pathLst>
              <a:path w="5220970">
                <a:moveTo>
                  <a:pt x="522090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A8E0F9FA-DB14-4BCC-8787-C5D58CE6C32C}"/>
              </a:ext>
            </a:extLst>
          </p:cNvPr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9546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E1325DB-D5D1-4BB2-8404-95E8D1A8D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675434"/>
            <a:ext cx="4191000" cy="249676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39018F2-40C6-4907-951D-42241451C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658906"/>
            <a:ext cx="4724400" cy="2226312"/>
          </a:xfrm>
          <a:prstGeom prst="rect">
            <a:avLst/>
          </a:prstGeom>
        </p:spPr>
      </p:pic>
      <p:sp>
        <p:nvSpPr>
          <p:cNvPr id="7" name="object 5">
            <a:extLst>
              <a:ext uri="{FF2B5EF4-FFF2-40B4-BE49-F238E27FC236}">
                <a16:creationId xmlns:a16="http://schemas.microsoft.com/office/drawing/2014/main" id="{A715309D-9283-4AB0-BC37-D033B3A1A0DB}"/>
              </a:ext>
            </a:extLst>
          </p:cNvPr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6666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1F7BDF27-88F5-4081-8B92-23A01C042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810000"/>
            <a:ext cx="3319469" cy="240541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AA80932-7E38-4074-AE84-97086BD26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027" y="3013778"/>
            <a:ext cx="3031334" cy="3201634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25E9B9C-93A2-49A3-9DB3-A3D324E1E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2869" y="642588"/>
            <a:ext cx="4001058" cy="1762371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:a16="http://schemas.microsoft.com/office/drawing/2014/main" id="{50905CEE-8A48-40D5-A7A0-E23760E245F4}"/>
              </a:ext>
            </a:extLst>
          </p:cNvPr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76631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21615">
              <a:lnSpc>
                <a:spcPct val="100000"/>
              </a:lnSpc>
              <a:spcBef>
                <a:spcPts val="130"/>
              </a:spcBef>
            </a:pPr>
            <a:r>
              <a:rPr sz="4400" dirty="0"/>
              <a:t>Chain</a:t>
            </a:r>
            <a:r>
              <a:rPr sz="4400" spc="15" dirty="0"/>
              <a:t> </a:t>
            </a:r>
            <a:r>
              <a:rPr sz="4400" dirty="0"/>
              <a:t>Of</a:t>
            </a:r>
            <a:r>
              <a:rPr sz="4400" spc="-5" dirty="0"/>
              <a:t> </a:t>
            </a:r>
            <a:r>
              <a:rPr sz="4400" spc="-10" dirty="0"/>
              <a:t>Responsability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28587" y="1600200"/>
            <a:ext cx="5220970" cy="0"/>
          </a:xfrm>
          <a:custGeom>
            <a:avLst/>
            <a:gdLst/>
            <a:ahLst/>
            <a:cxnLst/>
            <a:rect l="l" t="t" r="r" b="b"/>
            <a:pathLst>
              <a:path w="5220970">
                <a:moveTo>
                  <a:pt x="522090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97330" y="3134994"/>
            <a:ext cx="9197340" cy="198437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40029" marR="5080" indent="-227965">
              <a:lnSpc>
                <a:spcPct val="91600"/>
              </a:lnSpc>
              <a:spcBef>
                <a:spcPts val="405"/>
              </a:spcBef>
              <a:buChar char="•"/>
              <a:tabLst>
                <a:tab pos="241300" algn="l"/>
              </a:tabLst>
            </a:pP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Chain</a:t>
            </a:r>
            <a:r>
              <a:rPr sz="2750" spc="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75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Responsability</a:t>
            </a:r>
            <a:r>
              <a:rPr sz="275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é</a:t>
            </a:r>
            <a:r>
              <a:rPr sz="2750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um</a:t>
            </a:r>
            <a:r>
              <a:rPr sz="2750" spc="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padrão</a:t>
            </a:r>
            <a:r>
              <a:rPr sz="2750" spc="1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750" spc="1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Arial"/>
                <a:cs typeface="Arial"/>
              </a:rPr>
              <a:t>projeto 	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comportamental</a:t>
            </a:r>
            <a:r>
              <a:rPr sz="2750" spc="2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2750" spc="2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permite</a:t>
            </a:r>
            <a:r>
              <a:rPr sz="2750" spc="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encaminhar</a:t>
            </a:r>
            <a:r>
              <a:rPr sz="2750" spc="2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requisições</a:t>
            </a:r>
            <a:r>
              <a:rPr sz="2750" spc="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spc="-25" dirty="0">
                <a:solidFill>
                  <a:srgbClr val="FFFFFF"/>
                </a:solidFill>
                <a:latin typeface="Arial"/>
                <a:cs typeface="Arial"/>
              </a:rPr>
              <a:t>ao 	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longo</a:t>
            </a:r>
            <a:r>
              <a:rPr sz="2750" spc="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750" spc="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uma</a:t>
            </a:r>
            <a:r>
              <a:rPr sz="2750" spc="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cadeia</a:t>
            </a:r>
            <a:r>
              <a:rPr sz="2750" spc="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750" spc="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manipuladores.</a:t>
            </a:r>
            <a:r>
              <a:rPr sz="275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Ao</a:t>
            </a:r>
            <a:r>
              <a:rPr sz="2750" spc="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receber</a:t>
            </a:r>
            <a:r>
              <a:rPr sz="2750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spc="-25" dirty="0">
                <a:solidFill>
                  <a:srgbClr val="FFFFFF"/>
                </a:solidFill>
                <a:latin typeface="Arial"/>
                <a:cs typeface="Arial"/>
              </a:rPr>
              <a:t>uma 	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requisição,</a:t>
            </a:r>
            <a:r>
              <a:rPr sz="275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cada</a:t>
            </a:r>
            <a:r>
              <a:rPr sz="2750" spc="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manipulador</a:t>
            </a:r>
            <a:r>
              <a:rPr sz="275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decide</a:t>
            </a:r>
            <a:r>
              <a:rPr sz="2750" spc="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2750" spc="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750" spc="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processa</a:t>
            </a:r>
            <a:r>
              <a:rPr sz="2750" spc="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spc="-25" dirty="0">
                <a:solidFill>
                  <a:srgbClr val="FFFFFF"/>
                </a:solidFill>
                <a:latin typeface="Arial"/>
                <a:cs typeface="Arial"/>
              </a:rPr>
              <a:t>ou 	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2750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75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passa</a:t>
            </a:r>
            <a:r>
              <a:rPr sz="2750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2750" spc="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750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próximo</a:t>
            </a:r>
            <a:r>
              <a:rPr sz="2750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manipulador</a:t>
            </a:r>
            <a:r>
              <a:rPr sz="2750" spc="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FFFF"/>
                </a:solidFill>
                <a:latin typeface="Arial"/>
                <a:cs typeface="Arial"/>
              </a:rPr>
              <a:t>na</a:t>
            </a:r>
            <a:r>
              <a:rPr sz="275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Arial"/>
                <a:cs typeface="Arial"/>
              </a:rPr>
              <a:t>cadeia.</a:t>
            </a:r>
            <a:endParaRPr sz="275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3578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30"/>
              </a:spcBef>
            </a:pPr>
            <a:r>
              <a:rPr spc="55" dirty="0"/>
              <a:t>Chain</a:t>
            </a:r>
            <a:r>
              <a:rPr spc="-5" dirty="0"/>
              <a:t> </a:t>
            </a:r>
            <a:r>
              <a:rPr spc="55" dirty="0"/>
              <a:t>Of</a:t>
            </a:r>
            <a:r>
              <a:rPr spc="-90" dirty="0"/>
              <a:t> </a:t>
            </a:r>
            <a:r>
              <a:rPr dirty="0"/>
              <a:t>Responsability</a:t>
            </a:r>
            <a:r>
              <a:rPr spc="15" dirty="0"/>
              <a:t> </a:t>
            </a:r>
            <a:r>
              <a:rPr spc="-125" dirty="0"/>
              <a:t>–</a:t>
            </a:r>
            <a:r>
              <a:rPr spc="-50" dirty="0"/>
              <a:t> </a:t>
            </a:r>
            <a:r>
              <a:rPr dirty="0"/>
              <a:t>Ideia</a:t>
            </a:r>
            <a:r>
              <a:rPr spc="-35" dirty="0"/>
              <a:t> </a:t>
            </a:r>
            <a:r>
              <a:rPr spc="-10" dirty="0"/>
              <a:t>central</a:t>
            </a:r>
          </a:p>
        </p:txBody>
      </p:sp>
      <p:sp>
        <p:nvSpPr>
          <p:cNvPr id="3" name="object 3"/>
          <p:cNvSpPr/>
          <p:nvPr/>
        </p:nvSpPr>
        <p:spPr>
          <a:xfrm>
            <a:off x="128587" y="1661483"/>
            <a:ext cx="5220970" cy="0"/>
          </a:xfrm>
          <a:custGeom>
            <a:avLst/>
            <a:gdLst/>
            <a:ahLst/>
            <a:cxnLst/>
            <a:rect l="l" t="t" r="r" b="b"/>
            <a:pathLst>
              <a:path w="5220970">
                <a:moveTo>
                  <a:pt x="522090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72564" y="2387917"/>
            <a:ext cx="7430770" cy="37343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har char="•"/>
              <a:tabLst>
                <a:tab pos="240029" algn="l"/>
              </a:tabLst>
            </a:pP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Temos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vários</a:t>
            </a:r>
            <a:r>
              <a:rPr sz="2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manipuladores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(handlers)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encadeados: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70"/>
              </a:spcBef>
              <a:buClr>
                <a:srgbClr val="FFFFFF"/>
              </a:buClr>
              <a:buFont typeface="Arial"/>
              <a:buChar char="•"/>
            </a:pPr>
            <a:endParaRPr sz="2400" dirty="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Cada</a:t>
            </a:r>
            <a:r>
              <a:rPr sz="2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handler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decide:</a:t>
            </a:r>
            <a:endParaRPr sz="2400" dirty="0">
              <a:latin typeface="Arial"/>
              <a:cs typeface="Arial"/>
            </a:endParaRPr>
          </a:p>
          <a:p>
            <a:pPr marL="697230" lvl="1" indent="-227329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7230" algn="l"/>
              </a:tabLst>
            </a:pPr>
            <a:endParaRPr lang="pt-BR" sz="2400" spc="-1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697230" lvl="1" indent="-227329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-10" dirty="0" err="1">
                <a:solidFill>
                  <a:srgbClr val="FFFFFF"/>
                </a:solidFill>
                <a:latin typeface="Arial"/>
                <a:cs typeface="Arial"/>
              </a:rPr>
              <a:t>Tratar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requisição</a:t>
            </a:r>
            <a:r>
              <a:rPr sz="24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ou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Passar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próximo</a:t>
            </a:r>
            <a:endParaRPr sz="24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95"/>
              </a:spcBef>
              <a:buClr>
                <a:srgbClr val="FFFFFF"/>
              </a:buClr>
              <a:buFont typeface="Arial"/>
              <a:buChar char="•"/>
            </a:pPr>
            <a:endParaRPr sz="2400" dirty="0">
              <a:latin typeface="Arial"/>
              <a:cs typeface="Arial"/>
            </a:endParaRPr>
          </a:p>
          <a:p>
            <a:pPr marL="697230" lvl="1" indent="-227329">
              <a:lnSpc>
                <a:spcPct val="100000"/>
              </a:lnSpc>
              <a:buChar char="•"/>
              <a:tabLst>
                <a:tab pos="69723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spc="-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requisição</a:t>
            </a:r>
            <a:r>
              <a:rPr sz="2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percorre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cadeia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até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ser</a:t>
            </a:r>
            <a:r>
              <a:rPr sz="2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tratada.</a:t>
            </a:r>
            <a:endParaRPr sz="24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15"/>
              </a:spcBef>
              <a:buClr>
                <a:srgbClr val="FFFFFF"/>
              </a:buClr>
              <a:buFont typeface="Arial"/>
              <a:buChar char="•"/>
            </a:pPr>
            <a:endParaRPr sz="2400" dirty="0">
              <a:latin typeface="Arial"/>
              <a:cs typeface="Arial"/>
            </a:endParaRPr>
          </a:p>
          <a:p>
            <a:pPr marL="697230" lvl="1" indent="-227329">
              <a:lnSpc>
                <a:spcPct val="100000"/>
              </a:lnSpc>
              <a:buChar char="•"/>
              <a:tabLst>
                <a:tab pos="69723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Isso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desacopla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quem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envia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quem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processa.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239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spc="65" dirty="0"/>
              <a:t>Chain</a:t>
            </a:r>
            <a:r>
              <a:rPr sz="3650" spc="30" dirty="0"/>
              <a:t> </a:t>
            </a:r>
            <a:r>
              <a:rPr sz="3650" dirty="0"/>
              <a:t>Of</a:t>
            </a:r>
            <a:r>
              <a:rPr sz="3650" spc="70" dirty="0"/>
              <a:t> </a:t>
            </a:r>
            <a:r>
              <a:rPr sz="3650" dirty="0"/>
              <a:t>Respnsability</a:t>
            </a:r>
            <a:r>
              <a:rPr sz="3650" spc="55" dirty="0"/>
              <a:t> </a:t>
            </a:r>
            <a:r>
              <a:rPr sz="3650" spc="165" dirty="0"/>
              <a:t>-</a:t>
            </a:r>
            <a:r>
              <a:rPr sz="3650" spc="25" dirty="0"/>
              <a:t> </a:t>
            </a:r>
            <a:r>
              <a:rPr sz="3650" spc="-10" dirty="0"/>
              <a:t>Vantagens</a:t>
            </a:r>
            <a:endParaRPr sz="3650"/>
          </a:p>
        </p:txBody>
      </p:sp>
      <p:sp>
        <p:nvSpPr>
          <p:cNvPr id="3" name="object 3"/>
          <p:cNvSpPr/>
          <p:nvPr/>
        </p:nvSpPr>
        <p:spPr>
          <a:xfrm>
            <a:off x="128587" y="1600200"/>
            <a:ext cx="5220970" cy="0"/>
          </a:xfrm>
          <a:custGeom>
            <a:avLst/>
            <a:gdLst/>
            <a:ahLst/>
            <a:cxnLst/>
            <a:rect l="l" t="t" r="r" b="b"/>
            <a:pathLst>
              <a:path w="5220970">
                <a:moveTo>
                  <a:pt x="522090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72564" y="2003361"/>
            <a:ext cx="6003925" cy="444182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44"/>
              </a:spcBef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Baixo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acoplamento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Quem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envia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não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conhece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quem</a:t>
            </a:r>
            <a:r>
              <a:rPr sz="20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trata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10"/>
              </a:spcBef>
              <a:buClr>
                <a:srgbClr val="FFFFFF"/>
              </a:buClr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Flexibilidade</a:t>
            </a:r>
            <a:r>
              <a:rPr sz="20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na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cadeia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Pode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alterar</a:t>
            </a:r>
            <a:r>
              <a:rPr sz="2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ordem</a:t>
            </a:r>
            <a:r>
              <a:rPr sz="20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dinamicamente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85"/>
              </a:spcBef>
              <a:buClr>
                <a:srgbClr val="FFFFFF"/>
              </a:buClr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Aberto</a:t>
            </a:r>
            <a:r>
              <a:rPr sz="20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20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extensão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(OCP)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Adicionar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novos</a:t>
            </a:r>
            <a:r>
              <a:rPr sz="20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handlers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sem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mudar</a:t>
            </a:r>
            <a:r>
              <a:rPr sz="2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os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existentes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10"/>
              </a:spcBef>
              <a:buClr>
                <a:srgbClr val="FFFFFF"/>
              </a:buClr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Responsabilidade</a:t>
            </a:r>
            <a:r>
              <a:rPr sz="20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distribuída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Cada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classe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trata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um</a:t>
            </a: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caso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específico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262" rIns="0" bIns="0" rtlCol="0">
            <a:spAutoFit/>
          </a:bodyPr>
          <a:lstStyle/>
          <a:p>
            <a:pPr marL="125095">
              <a:lnSpc>
                <a:spcPct val="100000"/>
              </a:lnSpc>
              <a:spcBef>
                <a:spcPts val="130"/>
              </a:spcBef>
            </a:pPr>
            <a:r>
              <a:rPr spc="55" dirty="0"/>
              <a:t>Chain</a:t>
            </a:r>
            <a:r>
              <a:rPr spc="40" dirty="0"/>
              <a:t> </a:t>
            </a:r>
            <a:r>
              <a:rPr spc="55" dirty="0"/>
              <a:t>Of</a:t>
            </a:r>
            <a:r>
              <a:rPr spc="-45" dirty="0"/>
              <a:t> </a:t>
            </a:r>
            <a:r>
              <a:rPr dirty="0"/>
              <a:t>Responsability</a:t>
            </a:r>
            <a:r>
              <a:rPr spc="40" dirty="0"/>
              <a:t> </a:t>
            </a:r>
            <a:r>
              <a:rPr spc="140" dirty="0"/>
              <a:t>-</a:t>
            </a:r>
            <a:r>
              <a:rPr dirty="0"/>
              <a:t> </a:t>
            </a:r>
            <a:r>
              <a:rPr spc="-10" dirty="0"/>
              <a:t>Desvantagens</a:t>
            </a:r>
          </a:p>
        </p:txBody>
      </p:sp>
      <p:sp>
        <p:nvSpPr>
          <p:cNvPr id="3" name="object 3"/>
          <p:cNvSpPr/>
          <p:nvPr/>
        </p:nvSpPr>
        <p:spPr>
          <a:xfrm>
            <a:off x="128587" y="1524000"/>
            <a:ext cx="5220970" cy="0"/>
          </a:xfrm>
          <a:custGeom>
            <a:avLst/>
            <a:gdLst/>
            <a:ahLst/>
            <a:cxnLst/>
            <a:rect l="l" t="t" r="r" b="b"/>
            <a:pathLst>
              <a:path w="5220970">
                <a:moveTo>
                  <a:pt x="522090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72564" y="2003361"/>
            <a:ext cx="4179570" cy="444182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44"/>
              </a:spcBef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Requisição</a:t>
            </a:r>
            <a:r>
              <a:rPr sz="2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pode</a:t>
            </a:r>
            <a:r>
              <a:rPr sz="20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não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ser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tratada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Nenhum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handler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pode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assumir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10"/>
              </a:spcBef>
            </a:pP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Difícil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rastrear</a:t>
            </a:r>
            <a:r>
              <a:rPr sz="20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fluxo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Não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é</a:t>
            </a:r>
            <a:r>
              <a:rPr sz="20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óbvio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quem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processa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85"/>
              </a:spcBef>
            </a:pP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Ordem</a:t>
            </a:r>
            <a:r>
              <a:rPr sz="20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importa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Pode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causar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bugs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mal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definida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10"/>
              </a:spcBef>
            </a:pP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Debug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mais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complexo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Cadeias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longas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dificultam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análise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3578" rIns="0" bIns="0" rtlCol="0">
            <a:spAutoFit/>
          </a:bodyPr>
          <a:lstStyle/>
          <a:p>
            <a:pPr marL="72390">
              <a:lnSpc>
                <a:spcPct val="100000"/>
              </a:lnSpc>
              <a:spcBef>
                <a:spcPts val="130"/>
              </a:spcBef>
            </a:pPr>
            <a:r>
              <a:rPr spc="55" dirty="0"/>
              <a:t>Chain</a:t>
            </a:r>
            <a:r>
              <a:rPr spc="20" dirty="0"/>
              <a:t> </a:t>
            </a:r>
            <a:r>
              <a:rPr spc="55" dirty="0"/>
              <a:t>Of</a:t>
            </a:r>
            <a:r>
              <a:rPr spc="-70" dirty="0"/>
              <a:t> </a:t>
            </a:r>
            <a:r>
              <a:rPr dirty="0"/>
              <a:t>Responsability</a:t>
            </a:r>
            <a:r>
              <a:rPr spc="45" dirty="0"/>
              <a:t> </a:t>
            </a:r>
            <a:r>
              <a:rPr spc="-125" dirty="0"/>
              <a:t>–</a:t>
            </a:r>
            <a:r>
              <a:rPr spc="-30" dirty="0"/>
              <a:t> </a:t>
            </a:r>
            <a:r>
              <a:rPr dirty="0"/>
              <a:t>Quando</a:t>
            </a:r>
            <a:r>
              <a:rPr spc="-15" dirty="0"/>
              <a:t> </a:t>
            </a:r>
            <a:r>
              <a:rPr spc="35" dirty="0"/>
              <a:t>usar?</a:t>
            </a:r>
          </a:p>
        </p:txBody>
      </p:sp>
      <p:sp>
        <p:nvSpPr>
          <p:cNvPr id="3" name="object 3"/>
          <p:cNvSpPr/>
          <p:nvPr/>
        </p:nvSpPr>
        <p:spPr>
          <a:xfrm>
            <a:off x="128587" y="1643554"/>
            <a:ext cx="5220970" cy="0"/>
          </a:xfrm>
          <a:custGeom>
            <a:avLst/>
            <a:gdLst/>
            <a:ahLst/>
            <a:cxnLst/>
            <a:rect l="l" t="t" r="r" b="b"/>
            <a:pathLst>
              <a:path w="5220970">
                <a:moveTo>
                  <a:pt x="522090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72564" y="1946387"/>
            <a:ext cx="5249545" cy="4441190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sz="20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Chain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Responsibility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quando:</a:t>
            </a:r>
            <a:endParaRPr sz="2000" dirty="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Você</a:t>
            </a:r>
            <a:r>
              <a:rPr sz="20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tem</a:t>
            </a:r>
            <a:r>
              <a:rPr sz="20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múltiplos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possíveis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processadores</a:t>
            </a:r>
            <a:endParaRPr sz="2000" dirty="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Não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sabe</a:t>
            </a:r>
            <a:r>
              <a:rPr sz="20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quem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deve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tratar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requisição</a:t>
            </a:r>
            <a:endParaRPr sz="2000" dirty="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Quer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evitar</a:t>
            </a: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muitos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if/else</a:t>
            </a:r>
            <a:endParaRPr sz="2000" dirty="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Precisa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pipeline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processamento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80"/>
              </a:spcBef>
              <a:buClr>
                <a:srgbClr val="FFFFFF"/>
              </a:buClr>
              <a:buFont typeface="Arial"/>
              <a:buChar char="•"/>
            </a:pP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Exemplos</a:t>
            </a:r>
            <a:r>
              <a:rPr sz="20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típicos:</a:t>
            </a:r>
            <a:endParaRPr sz="2000" dirty="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Validação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dados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(várias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regras)</a:t>
            </a:r>
            <a:endParaRPr sz="2000" dirty="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Middleware</a:t>
            </a:r>
            <a:r>
              <a:rPr sz="20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(autenticação,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logs,</a:t>
            </a:r>
            <a:r>
              <a:rPr sz="20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etc.)</a:t>
            </a:r>
            <a:endParaRPr sz="2000" dirty="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Suporte</a:t>
            </a:r>
            <a:r>
              <a:rPr sz="20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técnico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por</a:t>
            </a:r>
            <a:r>
              <a:rPr sz="20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níveis</a:t>
            </a:r>
            <a:endParaRPr sz="2000" dirty="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Filtros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em</a:t>
            </a:r>
            <a:r>
              <a:rPr sz="20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requisições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HTTP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3578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30"/>
              </a:spcBef>
            </a:pPr>
            <a:r>
              <a:rPr spc="55" dirty="0"/>
              <a:t>Chain</a:t>
            </a:r>
            <a:r>
              <a:rPr spc="5" dirty="0"/>
              <a:t> </a:t>
            </a:r>
            <a:r>
              <a:rPr spc="55" dirty="0"/>
              <a:t>Of</a:t>
            </a:r>
            <a:r>
              <a:rPr spc="-85" dirty="0"/>
              <a:t> </a:t>
            </a:r>
            <a:r>
              <a:rPr dirty="0"/>
              <a:t>Responsability</a:t>
            </a:r>
            <a:r>
              <a:rPr spc="10" dirty="0"/>
              <a:t> </a:t>
            </a:r>
            <a:r>
              <a:rPr spc="-125" dirty="0"/>
              <a:t>–</a:t>
            </a:r>
            <a:r>
              <a:rPr spc="-40" dirty="0"/>
              <a:t> </a:t>
            </a:r>
            <a:r>
              <a:rPr dirty="0"/>
              <a:t>Quando</a:t>
            </a:r>
            <a:r>
              <a:rPr spc="-30" dirty="0"/>
              <a:t> </a:t>
            </a:r>
            <a:r>
              <a:rPr dirty="0"/>
              <a:t>não</a:t>
            </a:r>
            <a:r>
              <a:rPr spc="-35" dirty="0"/>
              <a:t> </a:t>
            </a:r>
            <a:r>
              <a:rPr spc="35" dirty="0"/>
              <a:t>usar?</a:t>
            </a:r>
          </a:p>
        </p:txBody>
      </p:sp>
      <p:sp>
        <p:nvSpPr>
          <p:cNvPr id="3" name="object 3"/>
          <p:cNvSpPr/>
          <p:nvPr/>
        </p:nvSpPr>
        <p:spPr>
          <a:xfrm>
            <a:off x="128587" y="1524000"/>
            <a:ext cx="5220970" cy="0"/>
          </a:xfrm>
          <a:custGeom>
            <a:avLst/>
            <a:gdLst/>
            <a:ahLst/>
            <a:cxnLst/>
            <a:rect l="l" t="t" r="r" b="b"/>
            <a:pathLst>
              <a:path w="5220970">
                <a:moveTo>
                  <a:pt x="522090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/>
              <a:t>Evite</a:t>
            </a:r>
            <a:r>
              <a:rPr spc="-80" dirty="0"/>
              <a:t> </a:t>
            </a:r>
            <a:r>
              <a:rPr spc="-10" dirty="0"/>
              <a:t>quando:</a:t>
            </a: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Char char="•"/>
              <a:tabLst>
                <a:tab pos="240029" algn="l"/>
              </a:tabLst>
            </a:pPr>
            <a:r>
              <a:rPr b="0" dirty="0">
                <a:latin typeface="Arial"/>
                <a:cs typeface="Arial"/>
              </a:rPr>
              <a:t>Só</a:t>
            </a:r>
            <a:r>
              <a:rPr b="0" spc="-6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existe</a:t>
            </a:r>
            <a:r>
              <a:rPr b="0" spc="-6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um</a:t>
            </a:r>
            <a:r>
              <a:rPr b="0" spc="-5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responsável</a:t>
            </a:r>
            <a:r>
              <a:rPr b="0" spc="-80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claro</a:t>
            </a: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Char char="•"/>
              <a:tabLst>
                <a:tab pos="240029" algn="l"/>
              </a:tabLst>
            </a:pPr>
            <a:r>
              <a:rPr b="0" dirty="0">
                <a:latin typeface="Arial"/>
                <a:cs typeface="Arial"/>
              </a:rPr>
              <a:t>A</a:t>
            </a:r>
            <a:r>
              <a:rPr b="0" spc="-17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ordem</a:t>
            </a:r>
            <a:r>
              <a:rPr b="0" spc="-8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é</a:t>
            </a:r>
            <a:r>
              <a:rPr b="0" spc="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rígida</a:t>
            </a:r>
            <a:r>
              <a:rPr b="0" spc="-1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e</a:t>
            </a:r>
            <a:r>
              <a:rPr b="0" spc="-6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crítica</a:t>
            </a: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Char char="•"/>
              <a:tabLst>
                <a:tab pos="240029" algn="l"/>
              </a:tabLst>
            </a:pPr>
            <a:r>
              <a:rPr b="0" dirty="0">
                <a:latin typeface="Arial"/>
                <a:cs typeface="Arial"/>
              </a:rPr>
              <a:t>O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fluxo</a:t>
            </a:r>
            <a:r>
              <a:rPr b="0" spc="-10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precisa</a:t>
            </a:r>
            <a:r>
              <a:rPr b="0" spc="-11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ser</a:t>
            </a:r>
            <a:r>
              <a:rPr b="0" spc="-2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totalmente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explícito</a:t>
            </a: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Char char="•"/>
              <a:tabLst>
                <a:tab pos="240029" algn="l"/>
              </a:tabLst>
            </a:pPr>
            <a:r>
              <a:rPr b="0" dirty="0">
                <a:latin typeface="Arial"/>
                <a:cs typeface="Arial"/>
              </a:rPr>
              <a:t>Performance</a:t>
            </a:r>
            <a:r>
              <a:rPr b="0" spc="-13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é</a:t>
            </a:r>
            <a:r>
              <a:rPr b="0" spc="-4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extremamente</a:t>
            </a:r>
            <a:r>
              <a:rPr b="0" spc="-110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sensível</a:t>
            </a:r>
          </a:p>
        </p:txBody>
      </p:sp>
      <p:sp>
        <p:nvSpPr>
          <p:cNvPr id="5" name="object 5"/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A4950B-6924-4548-A97B-1F474B441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58" y="693737"/>
            <a:ext cx="11864341" cy="515526"/>
          </a:xfrm>
        </p:spPr>
        <p:txBody>
          <a:bodyPr/>
          <a:lstStyle/>
          <a:p>
            <a:pPr algn="l"/>
            <a:r>
              <a:rPr lang="pt-BR" dirty="0"/>
              <a:t>Código do Projeto </a:t>
            </a:r>
            <a:r>
              <a:rPr lang="pt-BR" spc="55" dirty="0"/>
              <a:t>Chain</a:t>
            </a:r>
            <a:r>
              <a:rPr lang="pt-BR" spc="40" dirty="0"/>
              <a:t> </a:t>
            </a:r>
            <a:r>
              <a:rPr lang="pt-BR" spc="55" dirty="0" err="1"/>
              <a:t>Of</a:t>
            </a:r>
            <a:r>
              <a:rPr lang="pt-BR" spc="-45" dirty="0"/>
              <a:t> </a:t>
            </a:r>
            <a:r>
              <a:rPr lang="pt-BR" dirty="0" err="1"/>
              <a:t>Responsability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FEFF94C-4803-4757-81D1-43CE1256E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640" y="2057400"/>
            <a:ext cx="7718720" cy="3581400"/>
          </a:xfrm>
          <a:prstGeom prst="rect">
            <a:avLst/>
          </a:prstGeom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1A55E4AF-E7F7-4A00-AB64-6F6CFD646C76}"/>
              </a:ext>
            </a:extLst>
          </p:cNvPr>
          <p:cNvSpPr/>
          <p:nvPr/>
        </p:nvSpPr>
        <p:spPr>
          <a:xfrm>
            <a:off x="128587" y="1447800"/>
            <a:ext cx="5220970" cy="0"/>
          </a:xfrm>
          <a:custGeom>
            <a:avLst/>
            <a:gdLst/>
            <a:ahLst/>
            <a:cxnLst/>
            <a:rect l="l" t="t" r="r" b="b"/>
            <a:pathLst>
              <a:path w="5220970">
                <a:moveTo>
                  <a:pt x="522090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87232924-8A6A-4859-9D4A-C47872BC71F4}"/>
              </a:ext>
            </a:extLst>
          </p:cNvPr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8354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D5C7A00-3C3E-446A-89DE-36D1FDB46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950" y="138441"/>
            <a:ext cx="5372100" cy="6630657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18128CEE-1309-423B-93AB-47A9584448D4}"/>
              </a:ext>
            </a:extLst>
          </p:cNvPr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88931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6490104-0B75-4900-BDD2-3D8F3E4FB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922" y="142639"/>
            <a:ext cx="6554155" cy="6572721"/>
          </a:xfrm>
          <a:prstGeom prst="rect">
            <a:avLst/>
          </a:prstGeom>
        </p:spPr>
      </p:pic>
      <p:sp>
        <p:nvSpPr>
          <p:cNvPr id="4" name="object 5">
            <a:extLst>
              <a:ext uri="{FF2B5EF4-FFF2-40B4-BE49-F238E27FC236}">
                <a16:creationId xmlns:a16="http://schemas.microsoft.com/office/drawing/2014/main" id="{C5ACAC50-5DA3-4952-B891-5E170D76B368}"/>
              </a:ext>
            </a:extLst>
          </p:cNvPr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55422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855DDFA-E11C-41B6-8F9A-6B2FB8162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916" y="199574"/>
            <a:ext cx="6754168" cy="6458851"/>
          </a:xfrm>
          <a:prstGeom prst="rect">
            <a:avLst/>
          </a:prstGeom>
        </p:spPr>
      </p:pic>
      <p:sp>
        <p:nvSpPr>
          <p:cNvPr id="4" name="object 5">
            <a:extLst>
              <a:ext uri="{FF2B5EF4-FFF2-40B4-BE49-F238E27FC236}">
                <a16:creationId xmlns:a16="http://schemas.microsoft.com/office/drawing/2014/main" id="{09168A90-7E31-41FF-AC9C-DFE79B6C9A9A}"/>
              </a:ext>
            </a:extLst>
          </p:cNvPr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6015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23B18-4B90-4236-B5DF-12055945D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58" y="693737"/>
            <a:ext cx="11864341" cy="515526"/>
          </a:xfrm>
        </p:spPr>
        <p:txBody>
          <a:bodyPr/>
          <a:lstStyle/>
          <a:p>
            <a:pPr algn="l"/>
            <a:r>
              <a:rPr lang="pt-BR" dirty="0"/>
              <a:t>Projeto Rodando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9C9C2E6-B06E-4D0D-9AB5-220C9B050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585" y="1676400"/>
            <a:ext cx="3938829" cy="4340307"/>
          </a:xfrm>
          <a:prstGeom prst="rect">
            <a:avLst/>
          </a:prstGeom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D85099DF-C725-4F25-B4EB-A90B3B17E456}"/>
              </a:ext>
            </a:extLst>
          </p:cNvPr>
          <p:cNvSpPr/>
          <p:nvPr/>
        </p:nvSpPr>
        <p:spPr>
          <a:xfrm>
            <a:off x="128587" y="1295400"/>
            <a:ext cx="5220970" cy="0"/>
          </a:xfrm>
          <a:custGeom>
            <a:avLst/>
            <a:gdLst/>
            <a:ahLst/>
            <a:cxnLst/>
            <a:rect l="l" t="t" r="r" b="b"/>
            <a:pathLst>
              <a:path w="5220970">
                <a:moveTo>
                  <a:pt x="522090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75F83764-9907-4F65-907E-0850F6A95C91}"/>
              </a:ext>
            </a:extLst>
          </p:cNvPr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73948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4310" y="2139886"/>
            <a:ext cx="6266180" cy="257619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87630" marR="5080" indent="-75565">
              <a:lnSpc>
                <a:spcPts val="9540"/>
              </a:lnSpc>
              <a:spcBef>
                <a:spcPts val="1200"/>
              </a:spcBef>
            </a:pPr>
            <a:r>
              <a:rPr sz="8750" spc="-10" dirty="0"/>
              <a:t>Agradecemos </a:t>
            </a:r>
            <a:r>
              <a:rPr sz="8750" dirty="0"/>
              <a:t>pela</a:t>
            </a:r>
            <a:r>
              <a:rPr sz="8750" spc="-125" dirty="0"/>
              <a:t> </a:t>
            </a:r>
            <a:r>
              <a:rPr sz="8750" spc="-10" dirty="0"/>
              <a:t>atenção!</a:t>
            </a:r>
            <a:endParaRPr sz="8750"/>
          </a:p>
        </p:txBody>
      </p:sp>
      <p:sp>
        <p:nvSpPr>
          <p:cNvPr id="3" name="object 3"/>
          <p:cNvSpPr/>
          <p:nvPr/>
        </p:nvSpPr>
        <p:spPr>
          <a:xfrm>
            <a:off x="128587" y="119062"/>
            <a:ext cx="11944350" cy="6629400"/>
          </a:xfrm>
          <a:custGeom>
            <a:avLst/>
            <a:gdLst/>
            <a:ahLst/>
            <a:cxnLst/>
            <a:rect l="l" t="t" r="r" b="b"/>
            <a:pathLst>
              <a:path w="11944350" h="6629400">
                <a:moveTo>
                  <a:pt x="0" y="6629400"/>
                </a:moveTo>
                <a:lnTo>
                  <a:pt x="11944350" y="6629400"/>
                </a:lnTo>
                <a:lnTo>
                  <a:pt x="11944350" y="0"/>
                </a:lnTo>
                <a:lnTo>
                  <a:pt x="0" y="0"/>
                </a:lnTo>
                <a:lnTo>
                  <a:pt x="0" y="6629400"/>
                </a:lnTo>
                <a:close/>
              </a:path>
              <a:path w="11944350" h="6629400">
                <a:moveTo>
                  <a:pt x="9212262" y="1771713"/>
                </a:moveTo>
                <a:lnTo>
                  <a:pt x="2276538" y="1771713"/>
                </a:lnTo>
              </a:path>
              <a:path w="11944350" h="6629400">
                <a:moveTo>
                  <a:pt x="9212262" y="4953063"/>
                </a:moveTo>
                <a:lnTo>
                  <a:pt x="2276538" y="4953063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604</TotalTime>
  <Words>547</Words>
  <Application>Microsoft Office PowerPoint</Application>
  <PresentationFormat>Widescreen</PresentationFormat>
  <Paragraphs>115</Paragraphs>
  <Slides>30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Padrões de projeto</vt:lpstr>
      <vt:lpstr>Memento</vt:lpstr>
      <vt:lpstr>Memento - Ideia central</vt:lpstr>
      <vt:lpstr>Memento - Vantagens</vt:lpstr>
      <vt:lpstr>Memento - Desvantagens</vt:lpstr>
      <vt:lpstr>Memento - Quando usar?</vt:lpstr>
      <vt:lpstr>Memento - Quando não usar?</vt:lpstr>
      <vt:lpstr>Código do Projeto Memento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Projeto Rodando</vt:lpstr>
      <vt:lpstr>Apresentação do PowerPoint</vt:lpstr>
      <vt:lpstr>Apresentação do PowerPoint</vt:lpstr>
      <vt:lpstr>Chain Of Responsability</vt:lpstr>
      <vt:lpstr>Chain Of Responsability – Ideia central</vt:lpstr>
      <vt:lpstr>Chain Of Respnsability - Vantagens</vt:lpstr>
      <vt:lpstr>Chain Of Responsability - Desvantagens</vt:lpstr>
      <vt:lpstr>Chain Of Responsability – Quando usar?</vt:lpstr>
      <vt:lpstr>Chain Of Responsability – Quando não usar?</vt:lpstr>
      <vt:lpstr>Código do Projeto Chain Of Responsability</vt:lpstr>
      <vt:lpstr>Apresentação do PowerPoint</vt:lpstr>
      <vt:lpstr>Apresentação do PowerPoint</vt:lpstr>
      <vt:lpstr>Apresentação do PowerPoint</vt:lpstr>
      <vt:lpstr>Projeto Rodando</vt:lpstr>
      <vt:lpstr>Agradecemos pela atenção!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Padrões de projeto</dc:title>
  <cp:lastModifiedBy>TIAGO</cp:lastModifiedBy>
  <cp:revision>16</cp:revision>
  <dcterms:created xsi:type="dcterms:W3CDTF">2026-04-22T17:43:50Z</dcterms:created>
  <dcterms:modified xsi:type="dcterms:W3CDTF">2026-04-24T18:52:01Z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2026-04-15T00:00:00Z</vt:filetime>
  </property>
  <property fmtid="{D5CDD505-2E9C-101B-9397-08002B2CF9AE}" pid="3" name="LastSaved">
    <vt:filetime>2026-04-22T00:00:00Z</vt:filetime>
  </property>
  <property fmtid="{D5CDD505-2E9C-101B-9397-08002B2CF9AE}" pid="4" name="Producer">
    <vt:lpwstr>3-Heights(TM) PDF Security Shell 4.8.25.2 (http://www.pdf-tools.com)</vt:lpwstr>
  </property>
</Properties>
</file>